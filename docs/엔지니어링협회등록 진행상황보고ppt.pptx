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</p:sldIdLst>
  <p:sldSz cx="7562850" cy="10696575"/>
  <p:notesSz cx="10696575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20" d="100"/>
          <a:sy n="12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presProps" Target="presProps.xml"  /><Relationship Id="rId6" Type="http://schemas.openxmlformats.org/officeDocument/2006/relationships/viewProps" Target="viewProps.xml"  /><Relationship Id="rId7" Type="http://schemas.openxmlformats.org/officeDocument/2006/relationships/theme" Target="theme/theme1.xml"  /><Relationship Id="rId8" Type="http://schemas.openxmlformats.org/officeDocument/2006/relationships/tableStyles" Target="tableStyles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1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976" cy="11216296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141E37">
                <a:alpha val="13000"/>
              </a:srgbClr>
            </a:outerShdw>
          </a:effectLst>
        </p:spPr>
      </p:sp>
      <p:sp>
        <p:nvSpPr>
          <p:cNvPr id="3" name="Shape 1"/>
          <p:cNvSpPr/>
          <p:nvPr/>
        </p:nvSpPr>
        <p:spPr>
          <a:xfrm>
            <a:off x="647911" y="846944"/>
            <a:ext cx="6264154" cy="2290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4" name="Text 2"/>
          <p:cNvSpPr/>
          <p:nvPr/>
        </p:nvSpPr>
        <p:spPr>
          <a:xfrm>
            <a:off x="647911" y="539940"/>
            <a:ext cx="1951936" cy="221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spc="41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 보고 · 협회 등록 요건 판정</a:t>
            </a:r>
            <a:endParaRPr lang="en-US" sz="1013" dirty="0"/>
          </a:p>
        </p:txBody>
      </p:sp>
      <p:sp>
        <p:nvSpPr>
          <p:cNvPr id="5" name="Text 3"/>
          <p:cNvSpPr/>
          <p:nvPr/>
        </p:nvSpPr>
        <p:spPr>
          <a:xfrm>
            <a:off x="5712763" y="539940"/>
            <a:ext cx="1319232" cy="221301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dirty="0">
                <a:solidFill>
                  <a:srgbClr val="7A7D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2026년 6월 19일 기준</a:t>
            </a:r>
            <a:endParaRPr lang="en-US" sz="1013" dirty="0"/>
          </a:p>
        </p:txBody>
      </p:sp>
      <p:sp>
        <p:nvSpPr>
          <p:cNvPr id="6" name="Text 4"/>
          <p:cNvSpPr/>
          <p:nvPr/>
        </p:nvSpPr>
        <p:spPr>
          <a:xfrm>
            <a:off x="647911" y="1136505"/>
            <a:ext cx="6452079" cy="817597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normAutofit/>
          </a:bodyPr>
          <a:lstStyle/>
          <a:p>
            <a:pPr marL="0" lvl="0" indent="0" algn="l">
              <a:lnSpc>
                <a:spcPct val="132000"/>
              </a:lnSpc>
              <a:buNone/>
              <a:defRPr/>
            </a:pPr>
            <a:r>
              <a:rPr lang="en-US" sz="2325" b="1" kern="0" spc="-23">
                <a:solidFill>
                  <a:srgbClr val="16213a"/>
                </a:solidFill>
                <a:latin typeface="Arial"/>
                <a:ea typeface="Arial"/>
                <a:cs typeface="Arial"/>
              </a:rPr>
              <a:t>엔지니어링협회</a:t>
            </a:r>
            <a:r>
              <a:rPr lang="ko-KR" altLang="en-US" sz="2325" b="1" kern="0" spc="-23">
                <a:solidFill>
                  <a:srgbClr val="16213a"/>
                </a:solidFill>
                <a:latin typeface="Arial"/>
                <a:ea typeface="Arial"/>
                <a:cs typeface="Arial"/>
              </a:rPr>
              <a:t> 인력 후보 집계 보고</a:t>
            </a:r>
            <a:endParaRPr lang="ko-KR" altLang="en-US" sz="2325" b="1" kern="0" spc="-23">
              <a:solidFill>
                <a:srgbClr val="1621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" name="Text 5"/>
          <p:cNvSpPr/>
          <p:nvPr/>
        </p:nvSpPr>
        <p:spPr>
          <a:xfrm>
            <a:off x="647911" y="2030234"/>
            <a:ext cx="5747323" cy="5410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238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건설사업관리 분야 등록에 필요한 인력 요건을 검토한 결과와, 앞으로의 진행 방향을 한눈에 정리했습니다.</a:t>
            </a:r>
            <a:endParaRPr lang="en-US" sz="1238" dirty="0"/>
          </a:p>
        </p:txBody>
      </p:sp>
      <p:sp>
        <p:nvSpPr>
          <p:cNvPr id="8" name="Shape 6"/>
          <p:cNvSpPr/>
          <p:nvPr/>
        </p:nvSpPr>
        <p:spPr>
          <a:xfrm>
            <a:off x="647911" y="2780749"/>
            <a:ext cx="6264154" cy="1268449"/>
          </a:xfrm>
          <a:prstGeom prst="roundRect">
            <a:avLst>
              <a:gd name="adj" fmla="val 4506"/>
            </a:avLst>
          </a:prstGeom>
          <a:solidFill>
            <a:srgbClr val="F3F6FA"/>
          </a:solidFill>
          <a:ln/>
        </p:spPr>
      </p:sp>
      <p:sp>
        <p:nvSpPr>
          <p:cNvPr id="9" name="Shape 7"/>
          <p:cNvSpPr/>
          <p:nvPr/>
        </p:nvSpPr>
        <p:spPr>
          <a:xfrm>
            <a:off x="647911" y="2780749"/>
            <a:ext cx="45800" cy="1268449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0" name="Text 8"/>
          <p:cNvSpPr/>
          <p:nvPr/>
        </p:nvSpPr>
        <p:spPr>
          <a:xfrm>
            <a:off x="922265" y="2990249"/>
            <a:ext cx="6337372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49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줄 결론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922265" y="3253421"/>
            <a:ext cx="5934085" cy="6243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2000"/>
              </a:lnSpc>
              <a:buNone/>
            </a:pPr>
            <a:r>
              <a:rPr lang="en-US" sz="14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건설사업관리 등록은 </a:t>
            </a:r>
            <a:pPr algn="l" indent="0" marL="0">
              <a:lnSpc>
                <a:spcPct val="162000"/>
              </a:lnSpc>
              <a:buNone/>
            </a:pPr>
            <a:r>
              <a:rPr lang="en-US" sz="1425" b="1" dirty="0">
                <a:solidFill>
                  <a:srgbClr val="1F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‘조건부 가능’ </a:t>
            </a:r>
            <a:pPr algn="l" indent="0" marL="0">
              <a:lnSpc>
                <a:spcPct val="162000"/>
              </a:lnSpc>
              <a:buNone/>
            </a:pPr>
            <a:r>
              <a:rPr lang="en-US" sz="14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합니다. 인력 후보는 충분하며, 남은 것은 경력·서류 확정 과 인원 2명 추가 신고입니다.</a:t>
            </a:r>
            <a:endParaRPr lang="en-US" sz="1425" dirty="0"/>
          </a:p>
        </p:txBody>
      </p:sp>
      <p:sp>
        <p:nvSpPr>
          <p:cNvPr id="12" name="Text 10"/>
          <p:cNvSpPr/>
          <p:nvPr/>
        </p:nvSpPr>
        <p:spPr>
          <a:xfrm>
            <a:off x="647911" y="4392073"/>
            <a:ext cx="689057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 조건</a:t>
            </a:r>
            <a:endParaRPr lang="en-US" sz="938" dirty="0"/>
          </a:p>
        </p:txBody>
      </p:sp>
      <p:sp>
        <p:nvSpPr>
          <p:cNvPr id="13" name="Text 11"/>
          <p:cNvSpPr/>
          <p:nvPr/>
        </p:nvSpPr>
        <p:spPr>
          <a:xfrm>
            <a:off x="647911" y="4630466"/>
            <a:ext cx="6890570" cy="341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등록하려면 이 네 가지를 갖춰야 합니다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47911" y="5000535"/>
            <a:ext cx="6890570" cy="26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법(건설기술 진흥법 시행령 별표5)이 정한 건설사업관리 분야 등록 기준입니다.</a:t>
            </a:r>
            <a:endParaRPr lang="en-US" sz="1125" dirty="0"/>
          </a:p>
        </p:txBody>
      </p:sp>
      <p:sp>
        <p:nvSpPr>
          <p:cNvPr id="15" name="Shape 13"/>
          <p:cNvSpPr/>
          <p:nvPr/>
        </p:nvSpPr>
        <p:spPr>
          <a:xfrm>
            <a:off x="647911" y="5343321"/>
            <a:ext cx="1466052" cy="1073262"/>
          </a:xfrm>
          <a:prstGeom prst="roundRect">
            <a:avLst>
              <a:gd name="adj" fmla="val 8875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5975" y="5482331"/>
            <a:ext cx="1226124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805975" y="5863224"/>
            <a:ext cx="1226124" cy="45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초급 이상 건설기술인 10명 이상</a:t>
            </a:r>
            <a:endParaRPr lang="en-US" sz="1088" dirty="0"/>
          </a:p>
        </p:txBody>
      </p:sp>
      <p:sp>
        <p:nvSpPr>
          <p:cNvPr id="18" name="Shape 16"/>
          <p:cNvSpPr/>
          <p:nvPr/>
        </p:nvSpPr>
        <p:spPr>
          <a:xfrm>
            <a:off x="2247249" y="5343321"/>
            <a:ext cx="1466052" cy="1073262"/>
          </a:xfrm>
          <a:prstGeom prst="roundRect">
            <a:avLst>
              <a:gd name="adj" fmla="val 8875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5313" y="5482331"/>
            <a:ext cx="1226124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2250" dirty="0"/>
          </a:p>
        </p:txBody>
      </p:sp>
      <p:sp>
        <p:nvSpPr>
          <p:cNvPr id="20" name="Text 18"/>
          <p:cNvSpPr/>
          <p:nvPr/>
        </p:nvSpPr>
        <p:spPr>
          <a:xfrm>
            <a:off x="2405313" y="5863224"/>
            <a:ext cx="1226124" cy="45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그중 ‘특급’ 기술인 1명 이상 포함</a:t>
            </a:r>
            <a:endParaRPr lang="en-US" sz="1088" dirty="0"/>
          </a:p>
        </p:txBody>
      </p:sp>
      <p:sp>
        <p:nvSpPr>
          <p:cNvPr id="21" name="Shape 19"/>
          <p:cNvSpPr/>
          <p:nvPr/>
        </p:nvSpPr>
        <p:spPr>
          <a:xfrm>
            <a:off x="3846586" y="5343321"/>
            <a:ext cx="1466052" cy="1073262"/>
          </a:xfrm>
          <a:prstGeom prst="roundRect">
            <a:avLst>
              <a:gd name="adj" fmla="val 8875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04651" y="5482331"/>
            <a:ext cx="1226124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</a:t>
            </a:r>
            <a:pPr algn="l" indent="0" marL="0">
              <a:lnSpc>
                <a:spcPct val="100000"/>
              </a:lnSpc>
              <a:buNone/>
            </a:pPr>
            <a:r>
              <a:rPr lang="en-US" sz="12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억</a:t>
            </a:r>
            <a:endParaRPr lang="en-US" sz="2250" dirty="0"/>
          </a:p>
        </p:txBody>
      </p:sp>
      <p:sp>
        <p:nvSpPr>
          <p:cNvPr id="23" name="Text 21"/>
          <p:cNvSpPr/>
          <p:nvPr/>
        </p:nvSpPr>
        <p:spPr>
          <a:xfrm>
            <a:off x="4004651" y="5863224"/>
            <a:ext cx="1226124" cy="45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자본금 1억 5천만원 이상</a:t>
            </a:r>
            <a:endParaRPr lang="en-US" sz="1088" dirty="0"/>
          </a:p>
        </p:txBody>
      </p:sp>
      <p:sp>
        <p:nvSpPr>
          <p:cNvPr id="24" name="Shape 22"/>
          <p:cNvSpPr/>
          <p:nvPr/>
        </p:nvSpPr>
        <p:spPr>
          <a:xfrm>
            <a:off x="5445924" y="5343321"/>
            <a:ext cx="1466141" cy="1073262"/>
          </a:xfrm>
          <a:prstGeom prst="roundRect">
            <a:avLst>
              <a:gd name="adj" fmla="val 8875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03988" y="5482331"/>
            <a:ext cx="1226213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사무실</a:t>
            </a:r>
            <a:endParaRPr lang="en-US" sz="2250" dirty="0"/>
          </a:p>
        </p:txBody>
      </p:sp>
      <p:sp>
        <p:nvSpPr>
          <p:cNvPr id="26" name="Text 24"/>
          <p:cNvSpPr/>
          <p:nvPr/>
        </p:nvSpPr>
        <p:spPr>
          <a:xfrm>
            <a:off x="5603988" y="5863224"/>
            <a:ext cx="1226213" cy="2452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업무용 사무실 보유</a:t>
            </a:r>
            <a:endParaRPr lang="en-US" sz="1088" dirty="0"/>
          </a:p>
        </p:txBody>
      </p:sp>
      <p:sp>
        <p:nvSpPr>
          <p:cNvPr id="27" name="Text 25"/>
          <p:cNvSpPr/>
          <p:nvPr/>
        </p:nvSpPr>
        <p:spPr>
          <a:xfrm>
            <a:off x="647911" y="6759458"/>
            <a:ext cx="689057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충족 현황</a:t>
            </a:r>
            <a:endParaRPr lang="en-US" sz="938" dirty="0"/>
          </a:p>
        </p:txBody>
      </p:sp>
      <p:sp>
        <p:nvSpPr>
          <p:cNvPr id="28" name="Text 26"/>
          <p:cNvSpPr/>
          <p:nvPr/>
        </p:nvSpPr>
        <p:spPr>
          <a:xfrm>
            <a:off x="647911" y="6997851"/>
            <a:ext cx="6890570" cy="341526"/>
          </a:xfrm>
          <a:prstGeom prst="rect">
            <a:avLst/>
          </a:prstGeom>
          <a:noFill/>
          <a:ln/>
        </p:spPr>
        <p:txBody>
          <a:bodyPr wrap="square" lIns="25400" tIns="25400" rIns="25400" bIns="25400" anchor="t">
            <a:normAutofit/>
          </a:bodyPr>
          <a:lstStyle/>
          <a:p>
            <a:pPr marL="0" lvl="0" indent="0" algn="l">
              <a:buNone/>
              <a:defRPr/>
            </a:pPr>
            <a:r>
              <a:rPr lang="ko-KR" altLang="en-US" sz="1650" b="1" kern="0" spc="-16">
                <a:solidFill>
                  <a:srgbClr val="16213a"/>
                </a:solidFill>
                <a:latin typeface="Arial"/>
                <a:ea typeface="Arial"/>
                <a:cs typeface="Arial"/>
              </a:rPr>
              <a:t>현재까지 파악한 부분입니다</a:t>
            </a:r>
            <a:r>
              <a:rPr lang="en-US" altLang="ko-KR" sz="1650" b="1" kern="0" spc="-16">
                <a:solidFill>
                  <a:srgbClr val="16213a"/>
                </a:solidFill>
                <a:latin typeface="Arial"/>
                <a:ea typeface="Arial"/>
                <a:cs typeface="Arial"/>
              </a:rPr>
              <a:t>.</a:t>
            </a:r>
            <a:endParaRPr lang="en-US" altLang="ko-KR" sz="1650" b="1" kern="0" spc="-16">
              <a:solidFill>
                <a:srgbClr val="16213a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647911" y="7453616"/>
            <a:ext cx="1339386" cy="388765"/>
          </a:xfrm>
          <a:prstGeom prst="roundRect">
            <a:avLst>
              <a:gd name="adj" fmla="val 14700"/>
            </a:avLst>
          </a:prstGeom>
          <a:solidFill>
            <a:srgbClr val="16213A"/>
          </a:solidFill>
          <a:ln/>
        </p:spPr>
      </p:sp>
      <p:sp>
        <p:nvSpPr>
          <p:cNvPr id="30" name="Text 28"/>
          <p:cNvSpPr/>
          <p:nvPr/>
        </p:nvSpPr>
        <p:spPr>
          <a:xfrm>
            <a:off x="800311" y="7567916"/>
            <a:ext cx="1110786" cy="19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항목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1987297" y="7453616"/>
            <a:ext cx="1324895" cy="388765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32" name="Text 30"/>
          <p:cNvSpPr/>
          <p:nvPr/>
        </p:nvSpPr>
        <p:spPr>
          <a:xfrm>
            <a:off x="2139697" y="7567916"/>
            <a:ext cx="1096295" cy="19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법적 기준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3312192" y="7453616"/>
            <a:ext cx="2143393" cy="388765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34" name="Text 32"/>
          <p:cNvSpPr/>
          <p:nvPr/>
        </p:nvSpPr>
        <p:spPr>
          <a:xfrm>
            <a:off x="3464592" y="7567916"/>
            <a:ext cx="1914793" cy="19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현재 상태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5455585" y="7453616"/>
            <a:ext cx="1456480" cy="388765"/>
          </a:xfrm>
          <a:prstGeom prst="rect">
            <a:avLst/>
          </a:prstGeom>
          <a:solidFill>
            <a:srgbClr val="16213A"/>
          </a:solidFill>
          <a:ln/>
        </p:spPr>
      </p:sp>
      <p:sp>
        <p:nvSpPr>
          <p:cNvPr id="36" name="Text 34"/>
          <p:cNvSpPr/>
          <p:nvPr/>
        </p:nvSpPr>
        <p:spPr>
          <a:xfrm>
            <a:off x="5607985" y="7567916"/>
            <a:ext cx="1227880" cy="1982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남은 일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7911" y="8321672"/>
            <a:ext cx="1339386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38" name="Text 36"/>
          <p:cNvSpPr/>
          <p:nvPr/>
        </p:nvSpPr>
        <p:spPr>
          <a:xfrm>
            <a:off x="800311" y="7966206"/>
            <a:ext cx="1110786" cy="269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기술인력 인원</a:t>
            </a:r>
            <a:endParaRPr lang="en-US" sz="1125" dirty="0"/>
          </a:p>
        </p:txBody>
      </p:sp>
      <p:sp>
        <p:nvSpPr>
          <p:cNvPr id="39" name="Shape 37"/>
          <p:cNvSpPr/>
          <p:nvPr/>
        </p:nvSpPr>
        <p:spPr>
          <a:xfrm>
            <a:off x="1987297" y="8321672"/>
            <a:ext cx="1324895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40" name="Text 38"/>
          <p:cNvSpPr/>
          <p:nvPr/>
        </p:nvSpPr>
        <p:spPr>
          <a:xfrm>
            <a:off x="2139697" y="7966206"/>
            <a:ext cx="1096295" cy="269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10명 이상</a:t>
            </a:r>
            <a:endParaRPr lang="en-US" sz="1125" dirty="0"/>
          </a:p>
        </p:txBody>
      </p:sp>
      <p:sp>
        <p:nvSpPr>
          <p:cNvPr id="41" name="Shape 39"/>
          <p:cNvSpPr/>
          <p:nvPr/>
        </p:nvSpPr>
        <p:spPr>
          <a:xfrm>
            <a:off x="3312192" y="8321672"/>
            <a:ext cx="2143393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42" name="Text 40"/>
          <p:cNvSpPr/>
          <p:nvPr/>
        </p:nvSpPr>
        <p:spPr>
          <a:xfrm>
            <a:off x="3464592" y="7966206"/>
            <a:ext cx="1914793" cy="269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 신고 · 후보 다수 보유</a:t>
            </a:r>
            <a:endParaRPr lang="en-US" sz="1125" dirty="0"/>
          </a:p>
        </p:txBody>
      </p:sp>
      <p:sp>
        <p:nvSpPr>
          <p:cNvPr id="43" name="Shape 41"/>
          <p:cNvSpPr/>
          <p:nvPr/>
        </p:nvSpPr>
        <p:spPr>
          <a:xfrm>
            <a:off x="5455585" y="8321672"/>
            <a:ext cx="1456480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44" name="Shape 42"/>
          <p:cNvSpPr/>
          <p:nvPr/>
        </p:nvSpPr>
        <p:spPr>
          <a:xfrm>
            <a:off x="5607924" y="7966184"/>
            <a:ext cx="916540" cy="234547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</p:sp>
      <p:sp>
        <p:nvSpPr>
          <p:cNvPr id="45" name="Text 43"/>
          <p:cNvSpPr/>
          <p:nvPr/>
        </p:nvSpPr>
        <p:spPr>
          <a:xfrm>
            <a:off x="5712699" y="7994759"/>
            <a:ext cx="783190" cy="21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2명 추가 신고</a:t>
            </a:r>
            <a:endParaRPr lang="en-US" sz="975" dirty="0"/>
          </a:p>
        </p:txBody>
      </p:sp>
      <p:sp>
        <p:nvSpPr>
          <p:cNvPr id="46" name="Shape 44"/>
          <p:cNvSpPr/>
          <p:nvPr/>
        </p:nvSpPr>
        <p:spPr>
          <a:xfrm>
            <a:off x="647911" y="8809551"/>
            <a:ext cx="1339386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47" name="Text 45"/>
          <p:cNvSpPr/>
          <p:nvPr/>
        </p:nvSpPr>
        <p:spPr>
          <a:xfrm>
            <a:off x="800311" y="8451222"/>
            <a:ext cx="1110786" cy="272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특급기술인</a:t>
            </a:r>
            <a:endParaRPr lang="en-US" sz="1125" dirty="0"/>
          </a:p>
        </p:txBody>
      </p:sp>
      <p:sp>
        <p:nvSpPr>
          <p:cNvPr id="48" name="Shape 46"/>
          <p:cNvSpPr/>
          <p:nvPr/>
        </p:nvSpPr>
        <p:spPr>
          <a:xfrm>
            <a:off x="1987297" y="8809551"/>
            <a:ext cx="1324895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49" name="Text 47"/>
          <p:cNvSpPr/>
          <p:nvPr/>
        </p:nvSpPr>
        <p:spPr>
          <a:xfrm>
            <a:off x="2139697" y="8451222"/>
            <a:ext cx="1096295" cy="272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1명 이상 포함</a:t>
            </a:r>
            <a:endParaRPr lang="en-US" sz="1125" dirty="0"/>
          </a:p>
        </p:txBody>
      </p:sp>
      <p:sp>
        <p:nvSpPr>
          <p:cNvPr id="50" name="Shape 48"/>
          <p:cNvSpPr/>
          <p:nvPr/>
        </p:nvSpPr>
        <p:spPr>
          <a:xfrm>
            <a:off x="3312192" y="8809551"/>
            <a:ext cx="2143393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51" name="Text 49"/>
          <p:cNvSpPr/>
          <p:nvPr/>
        </p:nvSpPr>
        <p:spPr>
          <a:xfrm>
            <a:off x="3464592" y="8451222"/>
            <a:ext cx="1914793" cy="272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후보 확보</a:t>
            </a:r>
            <a:endParaRPr lang="en-US" sz="1125" dirty="0"/>
          </a:p>
        </p:txBody>
      </p:sp>
      <p:sp>
        <p:nvSpPr>
          <p:cNvPr id="52" name="Shape 50"/>
          <p:cNvSpPr/>
          <p:nvPr/>
        </p:nvSpPr>
        <p:spPr>
          <a:xfrm>
            <a:off x="5455585" y="8809551"/>
            <a:ext cx="1456480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53" name="Shape 51"/>
          <p:cNvSpPr/>
          <p:nvPr/>
        </p:nvSpPr>
        <p:spPr>
          <a:xfrm>
            <a:off x="5607924" y="8454063"/>
            <a:ext cx="927185" cy="234547"/>
          </a:xfrm>
          <a:prstGeom prst="roundRect">
            <a:avLst>
              <a:gd name="adj" fmla="val 50000"/>
            </a:avLst>
          </a:prstGeom>
          <a:solidFill>
            <a:srgbClr val="FBEFD8"/>
          </a:solidFill>
          <a:ln/>
        </p:spPr>
      </p:sp>
      <p:sp>
        <p:nvSpPr>
          <p:cNvPr id="54" name="Text 52"/>
          <p:cNvSpPr/>
          <p:nvPr/>
        </p:nvSpPr>
        <p:spPr>
          <a:xfrm>
            <a:off x="5712699" y="8482638"/>
            <a:ext cx="793835" cy="21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경력증명 확정</a:t>
            </a:r>
            <a:endParaRPr lang="en-US" sz="975" dirty="0"/>
          </a:p>
        </p:txBody>
      </p:sp>
      <p:sp>
        <p:nvSpPr>
          <p:cNvPr id="55" name="Shape 53"/>
          <p:cNvSpPr/>
          <p:nvPr/>
        </p:nvSpPr>
        <p:spPr>
          <a:xfrm>
            <a:off x="647911" y="9297430"/>
            <a:ext cx="1339386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56" name="Text 54"/>
          <p:cNvSpPr/>
          <p:nvPr/>
        </p:nvSpPr>
        <p:spPr>
          <a:xfrm>
            <a:off x="800311" y="8939101"/>
            <a:ext cx="1110786" cy="272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자본금</a:t>
            </a:r>
            <a:endParaRPr lang="en-US" sz="1125" dirty="0"/>
          </a:p>
        </p:txBody>
      </p:sp>
      <p:sp>
        <p:nvSpPr>
          <p:cNvPr id="57" name="Shape 55"/>
          <p:cNvSpPr/>
          <p:nvPr/>
        </p:nvSpPr>
        <p:spPr>
          <a:xfrm>
            <a:off x="1987297" y="9297430"/>
            <a:ext cx="1324895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58" name="Text 56"/>
          <p:cNvSpPr/>
          <p:nvPr/>
        </p:nvSpPr>
        <p:spPr>
          <a:xfrm>
            <a:off x="2139697" y="8939101"/>
            <a:ext cx="1096295" cy="272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1.5억원 이상</a:t>
            </a:r>
            <a:endParaRPr lang="en-US" sz="1125" dirty="0"/>
          </a:p>
        </p:txBody>
      </p:sp>
      <p:sp>
        <p:nvSpPr>
          <p:cNvPr id="59" name="Shape 57"/>
          <p:cNvSpPr/>
          <p:nvPr/>
        </p:nvSpPr>
        <p:spPr>
          <a:xfrm>
            <a:off x="3312192" y="9297430"/>
            <a:ext cx="2143393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60" name="Text 58"/>
          <p:cNvSpPr/>
          <p:nvPr/>
        </p:nvSpPr>
        <p:spPr>
          <a:xfrm>
            <a:off x="3464592" y="8939101"/>
            <a:ext cx="1914793" cy="2726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회사 서류 사안</a:t>
            </a:r>
            <a:endParaRPr lang="en-US" sz="1125" dirty="0"/>
          </a:p>
        </p:txBody>
      </p:sp>
      <p:sp>
        <p:nvSpPr>
          <p:cNvPr id="61" name="Shape 59"/>
          <p:cNvSpPr/>
          <p:nvPr/>
        </p:nvSpPr>
        <p:spPr>
          <a:xfrm>
            <a:off x="5455585" y="9297430"/>
            <a:ext cx="1456480" cy="9525"/>
          </a:xfrm>
          <a:prstGeom prst="rect">
            <a:avLst/>
          </a:prstGeom>
          <a:solidFill>
            <a:srgbClr val="EAEAEC"/>
          </a:solidFill>
          <a:ln/>
        </p:spPr>
      </p:sp>
      <p:sp>
        <p:nvSpPr>
          <p:cNvPr id="62" name="Shape 60"/>
          <p:cNvSpPr/>
          <p:nvPr/>
        </p:nvSpPr>
        <p:spPr>
          <a:xfrm>
            <a:off x="5607924" y="8941942"/>
            <a:ext cx="699436" cy="234547"/>
          </a:xfrm>
          <a:prstGeom prst="roundRect">
            <a:avLst>
              <a:gd name="adj" fmla="val 50000"/>
            </a:avLst>
          </a:prstGeom>
          <a:solidFill>
            <a:srgbClr val="EDECE8"/>
          </a:solidFill>
          <a:ln/>
        </p:spPr>
      </p:sp>
      <p:sp>
        <p:nvSpPr>
          <p:cNvPr id="63" name="Text 61"/>
          <p:cNvSpPr/>
          <p:nvPr/>
        </p:nvSpPr>
        <p:spPr>
          <a:xfrm>
            <a:off x="5712699" y="8970517"/>
            <a:ext cx="566086" cy="21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 예정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800311" y="9426980"/>
            <a:ext cx="1110786" cy="27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사무실</a:t>
            </a:r>
            <a:endParaRPr lang="en-US" sz="1125" dirty="0"/>
          </a:p>
        </p:txBody>
      </p:sp>
      <p:sp>
        <p:nvSpPr>
          <p:cNvPr id="65" name="Text 63"/>
          <p:cNvSpPr/>
          <p:nvPr/>
        </p:nvSpPr>
        <p:spPr>
          <a:xfrm>
            <a:off x="2139697" y="9426980"/>
            <a:ext cx="1096295" cy="27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1125" dirty="0"/>
          </a:p>
        </p:txBody>
      </p:sp>
      <p:sp>
        <p:nvSpPr>
          <p:cNvPr id="66" name="Text 64"/>
          <p:cNvSpPr/>
          <p:nvPr/>
        </p:nvSpPr>
        <p:spPr>
          <a:xfrm>
            <a:off x="3464592" y="9426980"/>
            <a:ext cx="1914793" cy="2754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</a:t>
            </a:r>
            <a:endParaRPr lang="en-US" sz="1125" dirty="0"/>
          </a:p>
        </p:txBody>
      </p:sp>
      <p:sp>
        <p:nvSpPr>
          <p:cNvPr id="67" name="Shape 65"/>
          <p:cNvSpPr/>
          <p:nvPr/>
        </p:nvSpPr>
        <p:spPr>
          <a:xfrm>
            <a:off x="5607924" y="9429821"/>
            <a:ext cx="699436" cy="234547"/>
          </a:xfrm>
          <a:prstGeom prst="roundRect">
            <a:avLst>
              <a:gd name="adj" fmla="val 50000"/>
            </a:avLst>
          </a:prstGeom>
          <a:solidFill>
            <a:srgbClr val="EDECE8"/>
          </a:solidFill>
          <a:ln/>
        </p:spPr>
      </p:sp>
      <p:sp>
        <p:nvSpPr>
          <p:cNvPr id="68" name="Text 66"/>
          <p:cNvSpPr/>
          <p:nvPr/>
        </p:nvSpPr>
        <p:spPr>
          <a:xfrm>
            <a:off x="5712699" y="9458396"/>
            <a:ext cx="566086" cy="2154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5A5A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서류 확인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647911" y="9902403"/>
            <a:ext cx="6452079" cy="436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13" dirty="0">
                <a:solidFill>
                  <a:srgbClr val="8A8D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‘기술인력’은 협회에 신고(등록)된 사람을 뜻합니다. 자격증 보유만으로는 인정되지 않아, 경력증명과 협회 신고가 함께 필요합니다.</a:t>
            </a:r>
            <a:endParaRPr lang="en-US" sz="1013" dirty="0"/>
          </a:p>
        </p:txBody>
      </p:sp>
      <p:sp>
        <p:nvSpPr>
          <p:cNvPr id="70" name="Text 68"/>
          <p:cNvSpPr/>
          <p:nvPr/>
        </p:nvSpPr>
        <p:spPr>
          <a:xfrm>
            <a:off x="647911" y="10510329"/>
            <a:ext cx="1573199" cy="2041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A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한국엔지니어링협회 등록 검토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6689684" y="10510329"/>
            <a:ext cx="298581" cy="204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A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bg>
      <p:bgPr shadeToTitle="0"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559976" cy="11805793"/>
          </a:xfrm>
          <a:prstGeom prst="rect">
            <a:avLst/>
          </a:prstGeom>
          <a:ln/>
          <a:effectLst>
            <a:outerShdw sx="100000" sy="100000" kx="0" ky="0" algn="bl" rotWithShape="0" blurRad="285750" dist="57150" dir="5400000">
              <a:srgbClr val="141E37">
                <a:alpha val="13000"/>
              </a:srgbClr>
            </a:outerShdw>
          </a:effectLst>
        </p:spPr>
      </p:sp>
      <p:sp>
        <p:nvSpPr>
          <p:cNvPr id="3" name="Text 1"/>
          <p:cNvSpPr/>
          <p:nvPr/>
        </p:nvSpPr>
        <p:spPr>
          <a:xfrm>
            <a:off x="647911" y="539941"/>
            <a:ext cx="689057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 인력 현황</a:t>
            </a:r>
            <a:endParaRPr lang="en-US" sz="938" dirty="0"/>
          </a:p>
        </p:txBody>
      </p:sp>
      <p:sp>
        <p:nvSpPr>
          <p:cNvPr id="4" name="Text 2"/>
          <p:cNvSpPr/>
          <p:nvPr/>
        </p:nvSpPr>
        <p:spPr>
          <a:xfrm>
            <a:off x="647911" y="778334"/>
            <a:ext cx="6890570" cy="341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보유 인력은 충분합니다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647911" y="1148403"/>
            <a:ext cx="6890570" cy="266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 직원 자격·학력 데이터를 검토해 건설사업관리 등록 후보를 분류한 결과입니다.</a:t>
            </a:r>
            <a:endParaRPr lang="en-US" sz="1125" dirty="0"/>
          </a:p>
        </p:txBody>
      </p:sp>
      <p:sp>
        <p:nvSpPr>
          <p:cNvPr id="6" name="Shape 4"/>
          <p:cNvSpPr/>
          <p:nvPr/>
        </p:nvSpPr>
        <p:spPr>
          <a:xfrm>
            <a:off x="647911" y="1491188"/>
            <a:ext cx="1466052" cy="798282"/>
          </a:xfrm>
          <a:prstGeom prst="roundRect">
            <a:avLst>
              <a:gd name="adj" fmla="val 11932"/>
            </a:avLst>
          </a:prstGeom>
          <a:solidFill>
            <a:srgbClr val="16213A"/>
          </a:solidFill>
          <a:ln/>
        </p:spPr>
      </p:sp>
      <p:sp>
        <p:nvSpPr>
          <p:cNvPr id="7" name="Text 5"/>
          <p:cNvSpPr/>
          <p:nvPr/>
        </p:nvSpPr>
        <p:spPr>
          <a:xfrm>
            <a:off x="800250" y="1624474"/>
            <a:ext cx="1237574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</a:t>
            </a:r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800250" y="1995885"/>
            <a:ext cx="1237574" cy="18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CFD6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전체 보유 인력</a:t>
            </a:r>
            <a:endParaRPr lang="en-US" sz="1013" dirty="0"/>
          </a:p>
        </p:txBody>
      </p:sp>
      <p:sp>
        <p:nvSpPr>
          <p:cNvPr id="9" name="Shape 7"/>
          <p:cNvSpPr/>
          <p:nvPr/>
        </p:nvSpPr>
        <p:spPr>
          <a:xfrm>
            <a:off x="2247249" y="1491188"/>
            <a:ext cx="1466052" cy="798282"/>
          </a:xfrm>
          <a:prstGeom prst="roundRect">
            <a:avLst>
              <a:gd name="adj" fmla="val 11932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405313" y="1630199"/>
            <a:ext cx="1226124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2405313" y="2001610"/>
            <a:ext cx="1226124" cy="18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기술사급 후보</a:t>
            </a:r>
            <a:endParaRPr lang="en-US" sz="1013" dirty="0"/>
          </a:p>
        </p:txBody>
      </p:sp>
      <p:sp>
        <p:nvSpPr>
          <p:cNvPr id="12" name="Shape 10"/>
          <p:cNvSpPr/>
          <p:nvPr/>
        </p:nvSpPr>
        <p:spPr>
          <a:xfrm>
            <a:off x="3846586" y="1491188"/>
            <a:ext cx="1466052" cy="798282"/>
          </a:xfrm>
          <a:prstGeom prst="roundRect">
            <a:avLst>
              <a:gd name="adj" fmla="val 11932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004651" y="1630199"/>
            <a:ext cx="1226124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4004651" y="2001610"/>
            <a:ext cx="1226124" cy="18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기사·산업기사 후보</a:t>
            </a:r>
            <a:endParaRPr lang="en-US" sz="1013" dirty="0"/>
          </a:p>
        </p:txBody>
      </p:sp>
      <p:sp>
        <p:nvSpPr>
          <p:cNvPr id="15" name="Shape 13"/>
          <p:cNvSpPr/>
          <p:nvPr/>
        </p:nvSpPr>
        <p:spPr>
          <a:xfrm>
            <a:off x="5445924" y="1491188"/>
            <a:ext cx="1466141" cy="798282"/>
          </a:xfrm>
          <a:prstGeom prst="roundRect">
            <a:avLst>
              <a:gd name="adj" fmla="val 11932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603988" y="1630199"/>
            <a:ext cx="1226213" cy="3238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25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pPr algn="l"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명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5603988" y="2001610"/>
            <a:ext cx="1226213" cy="186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13" b="1" dirty="0">
                <a:solidFill>
                  <a:srgbClr val="3A3E4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학사 이상 후보</a:t>
            </a:r>
            <a:endParaRPr lang="en-US" sz="1013" dirty="0"/>
          </a:p>
        </p:txBody>
      </p:sp>
      <p:sp>
        <p:nvSpPr>
          <p:cNvPr id="18" name="Shape 16"/>
          <p:cNvSpPr/>
          <p:nvPr/>
        </p:nvSpPr>
        <p:spPr>
          <a:xfrm>
            <a:off x="647911" y="2394221"/>
            <a:ext cx="6264154" cy="690401"/>
          </a:xfrm>
          <a:prstGeom prst="roundRect">
            <a:avLst>
              <a:gd name="adj" fmla="val 13796"/>
            </a:avLst>
          </a:prstGeom>
          <a:solidFill>
            <a:srgbClr val="F3F6FA"/>
          </a:solidFill>
          <a:ln/>
        </p:spPr>
      </p:sp>
      <p:sp>
        <p:nvSpPr>
          <p:cNvPr id="19" name="Text 17"/>
          <p:cNvSpPr/>
          <p:nvPr/>
        </p:nvSpPr>
        <p:spPr>
          <a:xfrm>
            <a:off x="838357" y="2518024"/>
            <a:ext cx="6059760" cy="4808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건설기술인협회 신고 현황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기존 3명 + 신규 5명 =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8명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등록 요건 10명까지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2명 </a:t>
            </a:r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추가하면 됩니다.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647911" y="3170318"/>
            <a:ext cx="689057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등급은 어떻게 정해지나</a:t>
            </a:r>
            <a:endParaRPr lang="en-US" sz="938" dirty="0"/>
          </a:p>
        </p:txBody>
      </p:sp>
      <p:sp>
        <p:nvSpPr>
          <p:cNvPr id="21" name="Text 19"/>
          <p:cNvSpPr/>
          <p:nvPr/>
        </p:nvSpPr>
        <p:spPr>
          <a:xfrm>
            <a:off x="647911" y="3408712"/>
            <a:ext cx="6890570" cy="341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자격·학력·경력·교육을 점수로 환산합니다</a:t>
            </a:r>
            <a:endParaRPr lang="en-US" sz="1650" dirty="0"/>
          </a:p>
        </p:txBody>
      </p:sp>
      <p:sp>
        <p:nvSpPr>
          <p:cNvPr id="22" name="Text 20"/>
          <p:cNvSpPr/>
          <p:nvPr/>
        </p:nvSpPr>
        <p:spPr>
          <a:xfrm>
            <a:off x="647911" y="3778781"/>
            <a:ext cx="6452079" cy="49520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 사람의 자격·학력·경력·교육을 정해진 방식으로 점수화해 등급을 매깁니다. 점수가 높을수록 높은 등급입니다.</a:t>
            </a:r>
            <a:endParaRPr lang="en-US" sz="1125" dirty="0"/>
          </a:p>
        </p:txBody>
      </p:sp>
      <p:sp>
        <p:nvSpPr>
          <p:cNvPr id="23" name="Shape 21"/>
          <p:cNvSpPr/>
          <p:nvPr/>
        </p:nvSpPr>
        <p:spPr>
          <a:xfrm>
            <a:off x="647911" y="4350120"/>
            <a:ext cx="1494588" cy="602469"/>
          </a:xfrm>
          <a:prstGeom prst="roundRect">
            <a:avLst>
              <a:gd name="adj" fmla="val 12648"/>
            </a:avLst>
          </a:prstGeom>
          <a:solidFill>
            <a:srgbClr val="EEF1F5"/>
          </a:solidFill>
          <a:ln/>
        </p:spPr>
      </p:sp>
      <p:sp>
        <p:nvSpPr>
          <p:cNvPr id="24" name="Text 22"/>
          <p:cNvSpPr/>
          <p:nvPr/>
        </p:nvSpPr>
        <p:spPr>
          <a:xfrm>
            <a:off x="719796" y="4445298"/>
            <a:ext cx="1350818" cy="244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초급</a:t>
            </a:r>
            <a:endParaRPr lang="en-US" sz="1125" dirty="0"/>
          </a:p>
        </p:txBody>
      </p:sp>
      <p:sp>
        <p:nvSpPr>
          <p:cNvPr id="25" name="Text 23"/>
          <p:cNvSpPr/>
          <p:nvPr/>
        </p:nvSpPr>
        <p:spPr>
          <a:xfrm>
            <a:off x="719796" y="4679934"/>
            <a:ext cx="1350818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40점</a:t>
            </a:r>
            <a:endParaRPr lang="en-US" sz="975" dirty="0"/>
          </a:p>
        </p:txBody>
      </p:sp>
      <p:sp>
        <p:nvSpPr>
          <p:cNvPr id="26" name="Shape 24"/>
          <p:cNvSpPr/>
          <p:nvPr/>
        </p:nvSpPr>
        <p:spPr>
          <a:xfrm>
            <a:off x="2237677" y="4350120"/>
            <a:ext cx="1494677" cy="602469"/>
          </a:xfrm>
          <a:prstGeom prst="roundRect">
            <a:avLst>
              <a:gd name="adj" fmla="val 12648"/>
            </a:avLst>
          </a:prstGeom>
          <a:solidFill>
            <a:srgbClr val="E3E9F0"/>
          </a:solidFill>
          <a:ln/>
        </p:spPr>
      </p:sp>
      <p:sp>
        <p:nvSpPr>
          <p:cNvPr id="27" name="Text 25"/>
          <p:cNvSpPr/>
          <p:nvPr/>
        </p:nvSpPr>
        <p:spPr>
          <a:xfrm>
            <a:off x="2309557" y="4445298"/>
            <a:ext cx="1350916" cy="244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중급</a:t>
            </a:r>
            <a:endParaRPr lang="en-US" sz="1125" dirty="0"/>
          </a:p>
        </p:txBody>
      </p:sp>
      <p:sp>
        <p:nvSpPr>
          <p:cNvPr id="28" name="Text 26"/>
          <p:cNvSpPr/>
          <p:nvPr/>
        </p:nvSpPr>
        <p:spPr>
          <a:xfrm>
            <a:off x="2309557" y="4679934"/>
            <a:ext cx="1350916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60점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3827533" y="4350120"/>
            <a:ext cx="1494677" cy="602469"/>
          </a:xfrm>
          <a:prstGeom prst="roundRect">
            <a:avLst>
              <a:gd name="adj" fmla="val 12648"/>
            </a:avLst>
          </a:prstGeom>
          <a:solidFill>
            <a:srgbClr val="CFD9E6"/>
          </a:solidFill>
          <a:ln/>
        </p:spPr>
      </p:sp>
      <p:sp>
        <p:nvSpPr>
          <p:cNvPr id="30" name="Text 28"/>
          <p:cNvSpPr/>
          <p:nvPr/>
        </p:nvSpPr>
        <p:spPr>
          <a:xfrm>
            <a:off x="3899413" y="4445298"/>
            <a:ext cx="1350916" cy="244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고급</a:t>
            </a:r>
            <a:endParaRPr lang="en-US" sz="1125" dirty="0"/>
          </a:p>
        </p:txBody>
      </p:sp>
      <p:sp>
        <p:nvSpPr>
          <p:cNvPr id="31" name="Text 29"/>
          <p:cNvSpPr/>
          <p:nvPr/>
        </p:nvSpPr>
        <p:spPr>
          <a:xfrm>
            <a:off x="3899413" y="4679934"/>
            <a:ext cx="1350916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70점</a:t>
            </a:r>
            <a:endParaRPr lang="en-US" sz="975" dirty="0"/>
          </a:p>
        </p:txBody>
      </p:sp>
      <p:sp>
        <p:nvSpPr>
          <p:cNvPr id="32" name="Shape 30"/>
          <p:cNvSpPr/>
          <p:nvPr/>
        </p:nvSpPr>
        <p:spPr>
          <a:xfrm>
            <a:off x="5417388" y="4350120"/>
            <a:ext cx="1494677" cy="602469"/>
          </a:xfrm>
          <a:prstGeom prst="roundRect">
            <a:avLst>
              <a:gd name="adj" fmla="val 12648"/>
            </a:avLst>
          </a:prstGeom>
          <a:solidFill>
            <a:srgbClr val="1F3A5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9269" y="4445298"/>
            <a:ext cx="1350916" cy="244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12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1125" dirty="0"/>
          </a:p>
        </p:txBody>
      </p:sp>
      <p:sp>
        <p:nvSpPr>
          <p:cNvPr id="34" name="Text 32"/>
          <p:cNvSpPr/>
          <p:nvPr/>
        </p:nvSpPr>
        <p:spPr>
          <a:xfrm>
            <a:off x="5489269" y="4679934"/>
            <a:ext cx="1350916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dirty="0">
                <a:solidFill>
                  <a:srgbClr val="C8D2E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80점</a:t>
            </a:r>
            <a:endParaRPr lang="en-US" sz="975" dirty="0"/>
          </a:p>
        </p:txBody>
      </p:sp>
      <p:sp>
        <p:nvSpPr>
          <p:cNvPr id="35" name="Shape 33"/>
          <p:cNvSpPr/>
          <p:nvPr/>
        </p:nvSpPr>
        <p:spPr>
          <a:xfrm>
            <a:off x="647911" y="5066820"/>
            <a:ext cx="6264154" cy="1715269"/>
          </a:xfrm>
          <a:prstGeom prst="roundRect">
            <a:avLst>
              <a:gd name="adj" fmla="val 5553"/>
            </a:avLst>
          </a:prstGeom>
          <a:ln w="5725">
            <a:solidFill>
              <a:srgbClr val="E3E5E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5029" y="5274531"/>
            <a:ext cx="2329197" cy="2442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직원 1명 판정 예시 </a:t>
            </a:r>
            <a:pPr algn="l" indent="0" marL="0">
              <a:buNone/>
            </a:pPr>
            <a:r>
              <a:rPr lang="en-US" sz="975" b="1" dirty="0">
                <a:solidFill>
                  <a:srgbClr val="8A8D9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(이름 비공개)</a:t>
            </a:r>
            <a:endParaRPr lang="en-US" sz="1125" dirty="0"/>
          </a:p>
        </p:txBody>
      </p:sp>
      <p:sp>
        <p:nvSpPr>
          <p:cNvPr id="37" name="Text 35"/>
          <p:cNvSpPr/>
          <p:nvPr/>
        </p:nvSpPr>
        <p:spPr>
          <a:xfrm>
            <a:off x="5374003" y="5205831"/>
            <a:ext cx="1437144" cy="3300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합계 </a:t>
            </a:r>
            <a:pPr algn="l" indent="0" marL="0">
              <a:buNone/>
            </a:pPr>
            <a:r>
              <a:rPr lang="en-US" sz="157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80.5점 </a:t>
            </a:r>
            <a:pPr algn="l" indent="0" marL="0">
              <a:buNone/>
            </a:pPr>
            <a:r>
              <a:rPr lang="en-US" sz="1125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l" indent="0" marL="0">
              <a:buNone/>
            </a:pPr>
            <a:r>
              <a:rPr lang="en-US" sz="1125" b="1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</a:t>
            </a:r>
            <a:endParaRPr lang="en-US" sz="1125" dirty="0"/>
          </a:p>
        </p:txBody>
      </p:sp>
      <p:sp>
        <p:nvSpPr>
          <p:cNvPr id="38" name="Shape 36"/>
          <p:cNvSpPr/>
          <p:nvPr/>
        </p:nvSpPr>
        <p:spPr>
          <a:xfrm>
            <a:off x="825029" y="5583503"/>
            <a:ext cx="1413185" cy="583415"/>
          </a:xfrm>
          <a:prstGeom prst="roundRect">
            <a:avLst>
              <a:gd name="adj" fmla="val 11428"/>
            </a:avLst>
          </a:prstGeom>
          <a:solidFill>
            <a:srgbClr val="F6F7F9"/>
          </a:solidFill>
          <a:ln/>
        </p:spPr>
      </p:sp>
      <p:sp>
        <p:nvSpPr>
          <p:cNvPr id="39" name="Text 37"/>
          <p:cNvSpPr/>
          <p:nvPr/>
        </p:nvSpPr>
        <p:spPr>
          <a:xfrm>
            <a:off x="939261" y="5688253"/>
            <a:ext cx="1260921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자격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39261" y="5884693"/>
            <a:ext cx="1260921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 </a:t>
            </a:r>
            <a:pPr algn="l" indent="0" marL="0">
              <a:buNone/>
            </a:pPr>
            <a:r>
              <a:rPr lang="en-US" sz="900" b="1" dirty="0">
                <a:solidFill>
                  <a:srgbClr val="1F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2323910" y="5583503"/>
            <a:ext cx="1413185" cy="583415"/>
          </a:xfrm>
          <a:prstGeom prst="roundRect">
            <a:avLst>
              <a:gd name="adj" fmla="val 11428"/>
            </a:avLst>
          </a:prstGeom>
          <a:solidFill>
            <a:srgbClr val="F6F7F9"/>
          </a:solidFill>
          <a:ln/>
        </p:spPr>
      </p:sp>
      <p:sp>
        <p:nvSpPr>
          <p:cNvPr id="42" name="Text 40"/>
          <p:cNvSpPr/>
          <p:nvPr/>
        </p:nvSpPr>
        <p:spPr>
          <a:xfrm>
            <a:off x="2438142" y="5688253"/>
            <a:ext cx="1260921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학력</a:t>
            </a:r>
            <a:endParaRPr lang="en-US" sz="975" dirty="0"/>
          </a:p>
        </p:txBody>
      </p:sp>
      <p:sp>
        <p:nvSpPr>
          <p:cNvPr id="43" name="Text 41"/>
          <p:cNvSpPr/>
          <p:nvPr/>
        </p:nvSpPr>
        <p:spPr>
          <a:xfrm>
            <a:off x="2438142" y="5884693"/>
            <a:ext cx="1260921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</a:t>
            </a:r>
            <a:pPr algn="l" indent="0" marL="0">
              <a:buNone/>
            </a:pPr>
            <a:r>
              <a:rPr lang="en-US" sz="900" b="1" dirty="0">
                <a:solidFill>
                  <a:srgbClr val="1F6B4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확정</a:t>
            </a:r>
            <a:endParaRPr lang="en-US" sz="1200" dirty="0"/>
          </a:p>
        </p:txBody>
      </p:sp>
      <p:sp>
        <p:nvSpPr>
          <p:cNvPr id="44" name="Shape 42"/>
          <p:cNvSpPr/>
          <p:nvPr/>
        </p:nvSpPr>
        <p:spPr>
          <a:xfrm>
            <a:off x="3822792" y="5583503"/>
            <a:ext cx="1413185" cy="583415"/>
          </a:xfrm>
          <a:prstGeom prst="roundRect">
            <a:avLst>
              <a:gd name="adj" fmla="val 11428"/>
            </a:avLst>
          </a:prstGeom>
          <a:solidFill>
            <a:srgbClr val="F6F7F9"/>
          </a:solidFill>
          <a:ln/>
        </p:spPr>
      </p:sp>
      <p:sp>
        <p:nvSpPr>
          <p:cNvPr id="45" name="Text 43"/>
          <p:cNvSpPr/>
          <p:nvPr/>
        </p:nvSpPr>
        <p:spPr>
          <a:xfrm>
            <a:off x="3937024" y="5688253"/>
            <a:ext cx="1260921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경력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3937024" y="5884693"/>
            <a:ext cx="1260921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30.5 </a:t>
            </a:r>
            <a:pPr algn="l" indent="0" marL="0">
              <a:buNone/>
            </a:pPr>
            <a:r>
              <a:rPr lang="en-US" sz="90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5321673" y="5583503"/>
            <a:ext cx="1413274" cy="583415"/>
          </a:xfrm>
          <a:prstGeom prst="roundRect">
            <a:avLst>
              <a:gd name="adj" fmla="val 11428"/>
            </a:avLst>
          </a:prstGeom>
          <a:solidFill>
            <a:srgbClr val="F6F7F9"/>
          </a:solidFill>
          <a:ln/>
        </p:spPr>
      </p:sp>
      <p:sp>
        <p:nvSpPr>
          <p:cNvPr id="48" name="Text 46"/>
          <p:cNvSpPr/>
          <p:nvPr/>
        </p:nvSpPr>
        <p:spPr>
          <a:xfrm>
            <a:off x="5435905" y="5688253"/>
            <a:ext cx="1261010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dirty="0">
                <a:solidFill>
                  <a:srgbClr val="6A6E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교육</a:t>
            </a:r>
            <a:endParaRPr lang="en-US" sz="975" dirty="0"/>
          </a:p>
        </p:txBody>
      </p:sp>
      <p:sp>
        <p:nvSpPr>
          <p:cNvPr id="49" name="Text 47"/>
          <p:cNvSpPr/>
          <p:nvPr/>
        </p:nvSpPr>
        <p:spPr>
          <a:xfrm>
            <a:off x="5435905" y="5884693"/>
            <a:ext cx="1261010" cy="2155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pPr algn="l" indent="0" marL="0">
              <a:buNone/>
            </a:pPr>
            <a:r>
              <a:rPr lang="en-US" sz="900" b="1" dirty="0">
                <a:solidFill>
                  <a:srgbClr val="A3A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미확보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5029" y="6243043"/>
            <a:ext cx="6087216" cy="43813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점수상으로는 ‘특급’이지만, 경력이 아직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추정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이고 교육 이수가 확인되지 않아 최종은 </a:t>
            </a:r>
            <a:pPr algn="l" indent="0" marL="0">
              <a:lnSpc>
                <a:spcPct val="150000"/>
              </a:lnSpc>
              <a:buNone/>
            </a:pPr>
            <a:r>
              <a:rPr lang="en-US" sz="1050" b="1" dirty="0">
                <a:solidFill>
                  <a:srgbClr val="9A62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‘조건부 가능’ </a:t>
            </a:r>
            <a:pPr algn="l" indent="0" marL="0">
              <a:lnSpc>
                <a:spcPct val="150000"/>
              </a:lnSpc>
              <a:buNone/>
            </a:pPr>
            <a:r>
              <a:rPr lang="en-US" sz="1050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입니다. 협회 경력증명서를 받으면 확정됩니다.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647911" y="6867786"/>
            <a:ext cx="689057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이렇게 만드나</a:t>
            </a:r>
            <a:endParaRPr lang="en-US" sz="938" dirty="0"/>
          </a:p>
        </p:txBody>
      </p:sp>
      <p:sp>
        <p:nvSpPr>
          <p:cNvPr id="52" name="Text 50"/>
          <p:cNvSpPr/>
          <p:nvPr/>
        </p:nvSpPr>
        <p:spPr>
          <a:xfrm>
            <a:off x="647911" y="7106179"/>
            <a:ext cx="6890570" cy="3415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1621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‘한 번 만들어 두고 바꿔 끼우는’ 방식인 이유</a:t>
            </a:r>
            <a:endParaRPr lang="en-US" sz="1650" dirty="0"/>
          </a:p>
        </p:txBody>
      </p:sp>
      <p:sp>
        <p:nvSpPr>
          <p:cNvPr id="53" name="Text 51"/>
          <p:cNvSpPr/>
          <p:nvPr/>
        </p:nvSpPr>
        <p:spPr>
          <a:xfrm>
            <a:off x="647911" y="7485730"/>
            <a:ext cx="6452079" cy="9523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협회 등록은 이번 한 번으로 끝나지 않습니다. 건설기술인협회, 소프트웨어기술자, 감정평가 등 등록할 협회가 계속 늘어납니다. 그래서 ‘엔지니어링협회 전용’으로 만들지 않고, </a:t>
            </a:r>
            <a:pPr algn="l" indent="0" marL="0">
              <a:lnSpc>
                <a:spcPct val="160000"/>
              </a:lnSpc>
              <a:buNone/>
            </a:pPr>
            <a:r>
              <a:rPr lang="en-US" sz="1125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협회 이름·필요 자격·요건·법적 근거만 그때그때 바꿔 끼울 수 있는 하나의 틀 </a:t>
            </a:r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5B5F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로 만듭니다. 한 번 만들어 두면 다음 협회는 새로 개발할 필요 없이 빠르게 검토할 수 있습니다.</a:t>
            </a:r>
            <a:endParaRPr lang="en-US" sz="1125" dirty="0"/>
          </a:p>
        </p:txBody>
      </p:sp>
      <p:sp>
        <p:nvSpPr>
          <p:cNvPr id="54" name="Shape 52"/>
          <p:cNvSpPr/>
          <p:nvPr/>
        </p:nvSpPr>
        <p:spPr>
          <a:xfrm>
            <a:off x="647911" y="8485640"/>
            <a:ext cx="6264154" cy="637624"/>
          </a:xfrm>
          <a:prstGeom prst="roundRect">
            <a:avLst>
              <a:gd name="adj" fmla="val 11951"/>
            </a:avLst>
          </a:prstGeom>
          <a:solidFill>
            <a:srgbClr val="F3F6FA"/>
          </a:solidFill>
          <a:ln/>
        </p:spPr>
      </p:sp>
      <p:sp>
        <p:nvSpPr>
          <p:cNvPr id="55" name="Text 53"/>
          <p:cNvSpPr/>
          <p:nvPr/>
        </p:nvSpPr>
        <p:spPr>
          <a:xfrm>
            <a:off x="800311" y="8590415"/>
            <a:ext cx="6147279" cy="46617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088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중요한 점: </a:t>
            </a:r>
            <a:pPr algn="l" indent="0" marL="0">
              <a:lnSpc>
                <a:spcPct val="155000"/>
              </a:lnSpc>
              <a:buNone/>
            </a:pPr>
            <a:r>
              <a:rPr lang="en-US" sz="1088" dirty="0">
                <a:solidFill>
                  <a:srgbClr val="5B5F68"/>
                </a:solidFill>
                <a:highlight>
                  <a:srgbClr val="F3F6FA"/>
                </a:highlight>
                <a:latin typeface="Arial" pitchFamily="34" charset="0"/>
                <a:ea typeface="Arial" pitchFamily="34" charset="-122"/>
                <a:cs typeface="Arial" pitchFamily="34" charset="-120"/>
              </a:rPr>
              <a:t>같은 직원이라도 협회마다 등급이 달라집니다(협회별로 경력 인정 방식이 다름). 그래서 ‘사람 점수 계산’과 ‘협회 요건’을 따로 두어야 어느 협회에도 다시 쓸 수 있습니다.</a:t>
            </a:r>
            <a:endParaRPr lang="en-US" sz="1088" dirty="0"/>
          </a:p>
        </p:txBody>
      </p:sp>
      <p:sp>
        <p:nvSpPr>
          <p:cNvPr id="56" name="Text 54"/>
          <p:cNvSpPr/>
          <p:nvPr/>
        </p:nvSpPr>
        <p:spPr>
          <a:xfrm>
            <a:off x="647911" y="9218443"/>
            <a:ext cx="331958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믿을 수 있는 이유</a:t>
            </a:r>
            <a:endParaRPr lang="en-US" sz="938" dirty="0"/>
          </a:p>
        </p:txBody>
      </p:sp>
      <p:sp>
        <p:nvSpPr>
          <p:cNvPr id="57" name="Text 55"/>
          <p:cNvSpPr/>
          <p:nvPr/>
        </p:nvSpPr>
        <p:spPr>
          <a:xfrm>
            <a:off x="647911" y="9475890"/>
            <a:ext cx="3108334" cy="45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근거를 함께 표시 </a:t>
            </a:r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2A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모든 판정에 어느 법 몇 조에 따른 것인지 붙어, 협회 제출·감사에 대응됩니다.</a:t>
            </a:r>
            <a:endParaRPr lang="en-US" sz="1088" dirty="0"/>
          </a:p>
        </p:txBody>
      </p:sp>
      <p:sp>
        <p:nvSpPr>
          <p:cNvPr id="58" name="Text 56"/>
          <p:cNvSpPr/>
          <p:nvPr/>
        </p:nvSpPr>
        <p:spPr>
          <a:xfrm>
            <a:off x="647911" y="9975934"/>
            <a:ext cx="3108334" cy="452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1088" b="1" dirty="0">
                <a:solidFill>
                  <a:srgbClr val="1C22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최종 확정은 사람이 </a:t>
            </a:r>
            <a:pPr algn="l" indent="0" marL="0">
              <a:lnSpc>
                <a:spcPct val="150000"/>
              </a:lnSpc>
              <a:buNone/>
            </a:pPr>
            <a:r>
              <a:rPr lang="en-US" sz="1088" dirty="0">
                <a:solidFill>
                  <a:srgbClr val="2A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자동 검토는 ‘후보’까지만, 확정은 담당자가 직접 합니다.</a:t>
            </a:r>
            <a:endParaRPr lang="en-US" sz="1088" dirty="0"/>
          </a:p>
        </p:txBody>
      </p:sp>
      <p:sp>
        <p:nvSpPr>
          <p:cNvPr id="60" name="Text 58"/>
          <p:cNvSpPr/>
          <p:nvPr/>
        </p:nvSpPr>
        <p:spPr>
          <a:xfrm>
            <a:off x="3894265" y="9218443"/>
            <a:ext cx="3319580" cy="20985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38" b="1" spc="56" kern="0" dirty="0">
                <a:solidFill>
                  <a:srgbClr val="1F3A5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다음 단계</a:t>
            </a:r>
            <a:endParaRPr lang="en-US" sz="938" dirty="0"/>
          </a:p>
        </p:txBody>
      </p:sp>
      <p:sp>
        <p:nvSpPr>
          <p:cNvPr id="61" name="Shape 59"/>
          <p:cNvSpPr/>
          <p:nvPr/>
        </p:nvSpPr>
        <p:spPr>
          <a:xfrm>
            <a:off x="3894265" y="9475890"/>
            <a:ext cx="219071" cy="219071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2" name="Text 60"/>
          <p:cNvSpPr/>
          <p:nvPr/>
        </p:nvSpPr>
        <p:spPr>
          <a:xfrm>
            <a:off x="3856165" y="9475890"/>
            <a:ext cx="295271" cy="25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975" dirty="0"/>
          </a:p>
        </p:txBody>
      </p:sp>
      <p:sp>
        <p:nvSpPr>
          <p:cNvPr id="63" name="Text 61"/>
          <p:cNvSpPr/>
          <p:nvPr/>
        </p:nvSpPr>
        <p:spPr>
          <a:xfrm>
            <a:off x="4218086" y="9475890"/>
            <a:ext cx="2133679" cy="238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2A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특급·초급 확정용 경력증명서 수집</a:t>
            </a:r>
            <a:endParaRPr lang="en-US" sz="1088" dirty="0"/>
          </a:p>
        </p:txBody>
      </p:sp>
      <p:sp>
        <p:nvSpPr>
          <p:cNvPr id="64" name="Shape 62"/>
          <p:cNvSpPr/>
          <p:nvPr/>
        </p:nvSpPr>
        <p:spPr>
          <a:xfrm>
            <a:off x="3894265" y="9780657"/>
            <a:ext cx="219071" cy="219071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5" name="Text 63"/>
          <p:cNvSpPr/>
          <p:nvPr/>
        </p:nvSpPr>
        <p:spPr>
          <a:xfrm>
            <a:off x="3856165" y="9780657"/>
            <a:ext cx="295271" cy="25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75" dirty="0"/>
          </a:p>
        </p:txBody>
      </p:sp>
      <p:sp>
        <p:nvSpPr>
          <p:cNvPr id="66" name="Text 64"/>
          <p:cNvSpPr/>
          <p:nvPr/>
        </p:nvSpPr>
        <p:spPr>
          <a:xfrm>
            <a:off x="4218086" y="9780657"/>
            <a:ext cx="1861901" cy="238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2A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10명 충족 위한 2명 추가 신고</a:t>
            </a:r>
            <a:endParaRPr lang="en-US" sz="1088" dirty="0"/>
          </a:p>
        </p:txBody>
      </p:sp>
      <p:sp>
        <p:nvSpPr>
          <p:cNvPr id="67" name="Shape 65"/>
          <p:cNvSpPr/>
          <p:nvPr/>
        </p:nvSpPr>
        <p:spPr>
          <a:xfrm>
            <a:off x="3894265" y="10085425"/>
            <a:ext cx="219071" cy="219071"/>
          </a:xfrm>
          <a:prstGeom prst="ellipse">
            <a:avLst/>
          </a:prstGeom>
          <a:solidFill>
            <a:srgbClr val="1F3A5F"/>
          </a:solidFill>
          <a:ln/>
        </p:spPr>
      </p:sp>
      <p:sp>
        <p:nvSpPr>
          <p:cNvPr id="68" name="Text 66"/>
          <p:cNvSpPr/>
          <p:nvPr/>
        </p:nvSpPr>
        <p:spPr>
          <a:xfrm>
            <a:off x="3856165" y="10085425"/>
            <a:ext cx="295271" cy="25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75" dirty="0"/>
          </a:p>
        </p:txBody>
      </p:sp>
      <p:sp>
        <p:nvSpPr>
          <p:cNvPr id="69" name="Text 67"/>
          <p:cNvSpPr/>
          <p:nvPr/>
        </p:nvSpPr>
        <p:spPr>
          <a:xfrm>
            <a:off x="4218086" y="10085425"/>
            <a:ext cx="1854128" cy="238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2A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자본금·사무실 회사 서류 확인</a:t>
            </a:r>
            <a:endParaRPr lang="en-US" sz="1088" dirty="0"/>
          </a:p>
        </p:txBody>
      </p:sp>
      <p:sp>
        <p:nvSpPr>
          <p:cNvPr id="70" name="Shape 68"/>
          <p:cNvSpPr/>
          <p:nvPr/>
        </p:nvSpPr>
        <p:spPr>
          <a:xfrm>
            <a:off x="3894265" y="10390193"/>
            <a:ext cx="219071" cy="219071"/>
          </a:xfrm>
          <a:prstGeom prst="ellipse">
            <a:avLst/>
          </a:prstGeom>
          <a:solidFill>
            <a:srgbClr val="9AA0AA"/>
          </a:solidFill>
          <a:ln/>
        </p:spPr>
      </p:sp>
      <p:sp>
        <p:nvSpPr>
          <p:cNvPr id="71" name="Text 69"/>
          <p:cNvSpPr/>
          <p:nvPr/>
        </p:nvSpPr>
        <p:spPr>
          <a:xfrm>
            <a:off x="3856165" y="10390193"/>
            <a:ext cx="295271" cy="2571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975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75" dirty="0"/>
          </a:p>
        </p:txBody>
      </p:sp>
      <p:sp>
        <p:nvSpPr>
          <p:cNvPr id="72" name="Text 70"/>
          <p:cNvSpPr/>
          <p:nvPr/>
        </p:nvSpPr>
        <p:spPr>
          <a:xfrm>
            <a:off x="4218086" y="10390193"/>
            <a:ext cx="1574675" cy="23829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088" dirty="0">
                <a:solidFill>
                  <a:srgbClr val="2A2E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번째 협회로 확장·검증</a:t>
            </a:r>
            <a:endParaRPr lang="en-US" sz="1088" dirty="0"/>
          </a:p>
        </p:txBody>
      </p:sp>
      <p:sp>
        <p:nvSpPr>
          <p:cNvPr id="73" name="Text 71"/>
          <p:cNvSpPr/>
          <p:nvPr/>
        </p:nvSpPr>
        <p:spPr>
          <a:xfrm>
            <a:off x="647911" y="11099827"/>
            <a:ext cx="1573199" cy="204126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A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한국엔지니어링협회 등록 검토</a:t>
            </a:r>
            <a:endParaRPr lang="en-US" sz="900" dirty="0"/>
          </a:p>
        </p:txBody>
      </p:sp>
      <p:sp>
        <p:nvSpPr>
          <p:cNvPr id="74" name="Text 72"/>
          <p:cNvSpPr/>
          <p:nvPr/>
        </p:nvSpPr>
        <p:spPr>
          <a:xfrm>
            <a:off x="6689684" y="11099827"/>
            <a:ext cx="298581" cy="20412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" dirty="0">
                <a:solidFill>
                  <a:srgbClr val="A3A6A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PptxGenJS</ep:Company>
  <ep:Words>412</ep:Words>
  <ep:PresentationFormat>On-screen Show (16:9)</ep:PresentationFormat>
  <ep:Paragraphs>94</ep:Paragraphs>
  <ep:Slides>2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ep:HeadingPairs>
  <ep:TitlesOfParts>
    <vt:vector size="3" baseType="lpstr">
      <vt:lpstr>Office Theme</vt:lpstr>
      <vt:lpstr>슬라이드 1</vt:lpstr>
      <vt:lpstr>슬라이드 2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2026-06-22T14:35:41.000</dcterms:created>
  <dc:creator>PptxGenJS</dc:creator>
  <cp:lastModifiedBy>Samsung</cp:lastModifiedBy>
  <dcterms:modified xsi:type="dcterms:W3CDTF">2026-06-22T23:31:43.547</dcterms:modified>
  <cp:revision>2</cp:revision>
  <dc:subject>PptxGenJS Presentation</dc:subject>
  <dc:title>PptxGenJS Presentation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